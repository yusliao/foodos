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开场：今天只请三件事——立不立项、是否一个项目交付、一期边界是否锁定单城闭环。不展开技术细节。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口播：三件事是串联的。不定边界就会范围膨胀；不坚持一个项目，对账和召回会裂。原则同意后授权 P0 八到十二周，并点名业务负责人、技术负责人。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口播：软件成功标准是单城跑通、损耗和准时可量化、客户愿意复购。不是做成第二个 Sysco 的营收承诺。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口播：不要按 2023 文去建旧商城加旧 WMS。预测模型只出建议，人工或规则确认后才写采购单和派车单。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被问为什么不直接做成 Sysco：那是资本和时间换来的物理壁垒。我们复制的是操作系统，不是世界 500 强体量。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口播：计划引擎挂在中枢上，只出建议。Sysco 后来的微服务是上百人结果，我们用模块对齐领域、用单体保证运维。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口播：P0 结束必须能演示——下午下单、凌晨送到、扫码看见批次。业务侧仓、车、种子客户不同步，系统无法验收。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口播：不要用系统预算去扛仓配亏损。前置条件：试点仓两温区、种子客户、截单规则、不合格处理。金额本页故意留空，避免会上被数字带跑。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口播：最大的两个坑是范围膨胀和先铺仓。立项批复里写死不做清单，比事后控范围有效。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收口：客户只买一次履约，财务只认一套账，食安只追一个批次。拆开是六个局部最优，合起来交不出闭环。请原则通过并点名两位负责人。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BB4D0"/>
                </a:solidFill>
                <a:latin typeface="Microsoft YaHei"/>
                <a:ea typeface="Microsoft YaHei"/>
              </a:rPr>
              <a:t>立项汇报  V1.0    内部资料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74519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Microsoft YaHei"/>
                <a:ea typeface="Microsoft YaHei"/>
              </a:rPr>
              <a:t>餐饮供应链操作系统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88036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D6E4F0"/>
                </a:solidFill>
                <a:latin typeface="Microsoft YaHei"/>
                <a:ea typeface="Microsoft YaHei"/>
              </a:rPr>
              <a:t>FoodOS 项目分析与立项建议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3657600"/>
            <a:ext cx="1463040" cy="6400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9319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5D4E8"/>
                </a:solidFill>
                <a:latin typeface="Microsoft YaHei"/>
                <a:ea typeface="Microsoft YaHei"/>
              </a:rPr>
              <a:t>一个项目打通订货、仓配、溯源    先单城闭环，再谈扩张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9893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BB4D0"/>
                </a:solidFill>
                <a:latin typeface="Microsoft YaHei"/>
                <a:ea typeface="Microsoft YaHei"/>
              </a:rPr>
              <a:t>呈报：管理层 / 投资决策会          日期：2026年9月8日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12191695" cy="96012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icrosoft YaHei"/>
                <a:ea typeface="Microsoft YaHei"/>
              </a:rPr>
              <a:t>本日请决策的三件事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11155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5D4E8"/>
                </a:solidFill>
                <a:latin typeface="Microsoft YaHei"/>
                <a:ea typeface="Microsoft YaHei"/>
              </a:rPr>
              <a:t>建议会上当场明确，便于排期与资源到位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25880"/>
            <a:ext cx="11155680" cy="1389888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325880"/>
            <a:ext cx="109728" cy="138988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490472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B365D"/>
                </a:solidFill>
                <a:latin typeface="Microsoft YaHei"/>
                <a:ea typeface="Microsoft YaHei"/>
              </a:rPr>
              <a:t>01  立项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892808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22222"/>
                </a:solidFill>
                <a:latin typeface="Microsoft YaHei"/>
                <a:ea typeface="Microsoft YaHei"/>
              </a:rPr>
              <a:t>建设 FoodOS：B 端餐饮食材与配套物资的订货—履约—溯源一体化平台。
不是资讯站，也不是通用电商。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2880360"/>
            <a:ext cx="11155680" cy="1389888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2880360"/>
            <a:ext cx="109728" cy="138988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3044952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B365D"/>
                </a:solidFill>
                <a:latin typeface="Microsoft YaHei"/>
                <a:ea typeface="Microsoft YaHei"/>
              </a:rPr>
              <a:t>02  建设方式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447288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22222"/>
                </a:solidFill>
                <a:latin typeface="Microsoft YaHei"/>
                <a:ea typeface="Microsoft YaHei"/>
              </a:rPr>
              <a:t>一个项目、一个仓库、一套部署。六个环节作为模块内聚，
不按环节拆成多个独立系统。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4434840"/>
            <a:ext cx="11155680" cy="1389888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" y="4434840"/>
            <a:ext cx="109728" cy="138988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4599432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B365D"/>
                </a:solidFill>
                <a:latin typeface="Microsoft YaHei"/>
                <a:ea typeface="Microsoft YaHei"/>
              </a:rPr>
              <a:t>03  一期边界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001768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22222"/>
                </a:solidFill>
                <a:latin typeface="Microsoft YaHei"/>
                <a:ea typeface="Microsoft YaHei"/>
              </a:rPr>
              <a:t>单城市 + 一类客户 + 一仓两至三温区闭环。
不做全国仓网、不自研收银、不上区块链。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Microsoft YaHei"/>
                <a:ea typeface="Microsoft YaHei"/>
              </a:rPr>
              <a:t>FoodOS 立项汇报  |  内部资料  |  2026-09-08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7040" y="644652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Microsoft YaHei"/>
                <a:ea typeface="Microsoft YaHei"/>
              </a:rPr>
              <a:t>2/10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12191695" cy="96012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icrosoft YaHei"/>
                <a:ea typeface="Microsoft YaHei"/>
              </a:rPr>
              <a:t>一页结论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11155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5D4E8"/>
                </a:solidFill>
                <a:latin typeface="Microsoft YaHei"/>
                <a:ea typeface="Microsoft YaHei"/>
              </a:rPr>
              <a:t>对客户卖的是稳定、准时、省心，不是再做一个商城页面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25880"/>
            <a:ext cx="5577840" cy="214884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325880"/>
            <a:ext cx="5577840" cy="7315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6002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B365D"/>
                </a:solidFill>
                <a:latin typeface="Microsoft YaHei"/>
                <a:ea typeface="Microsoft YaHei"/>
              </a:rPr>
              <a:t>做成什么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103120"/>
            <a:ext cx="50292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22222"/>
                </a:solidFill>
                <a:latin typeface="Microsoft YaHei"/>
                <a:ea typeface="Microsoft YaHei"/>
              </a:rPr>
              <a:t>截单前订完货，按温区准时送到，出问题能按批次召回。先区域闭环，再谈扩张。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59" y="1325880"/>
            <a:ext cx="5577840" cy="214884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59" y="1325880"/>
            <a:ext cx="5577840" cy="7315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79" y="16002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B365D"/>
                </a:solidFill>
                <a:latin typeface="Microsoft YaHei"/>
                <a:ea typeface="Microsoft YaHei"/>
              </a:rPr>
              <a:t>为何值得做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79" y="2103120"/>
            <a:ext cx="50292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22222"/>
                </a:solidFill>
                <a:latin typeface="Microsoft YaHei"/>
                <a:ea typeface="Microsoft YaHei"/>
              </a:rPr>
              <a:t>标杆已验证一体化壁垒。国内 B 端食材仍分散。计划、温控、追溯正在成为运营标配。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3657600"/>
            <a:ext cx="5577840" cy="214884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" y="3657600"/>
            <a:ext cx="5577840" cy="7315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9319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B365D"/>
                </a:solidFill>
                <a:latin typeface="Microsoft YaHei"/>
                <a:ea typeface="Microsoft YaHei"/>
              </a:rPr>
              <a:t>为何一个项目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434840"/>
            <a:ext cx="50292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22222"/>
                </a:solidFill>
                <a:latin typeface="Microsoft YaHei"/>
                <a:ea typeface="Microsoft YaHei"/>
              </a:rPr>
              <a:t>全链共用一张订单、一个批次、一套库存账。拆开则商城有单、仓库没单、财务对不上。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09359" y="3657600"/>
            <a:ext cx="5577840" cy="214884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09359" y="3657600"/>
            <a:ext cx="5577840" cy="73152"/>
          </a:xfrm>
          <a:prstGeom prst="rect">
            <a:avLst/>
          </a:prstGeom>
          <a:solidFill>
            <a:srgbClr val="C459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79" y="39319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B365D"/>
                </a:solidFill>
                <a:latin typeface="Microsoft YaHei"/>
                <a:ea typeface="Microsoft YaHei"/>
              </a:rPr>
              <a:t>明确不抄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79" y="4434840"/>
            <a:ext cx="50292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22222"/>
                </a:solidFill>
                <a:latin typeface="Microsoft YaHei"/>
                <a:ea typeface="Microsoft YaHei"/>
              </a:rPr>
              <a:t>不抄 300+ 仓和万级车队。没有密度不先建大仓。不以约 2% 净利的重资产当软件成功标准。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Microsoft YaHei"/>
                <a:ea typeface="Microsoft YaHei"/>
              </a:rPr>
              <a:t>FoodOS 立项汇报  |  内部资料  |  2026-09-08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7040" y="644652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Microsoft YaHei"/>
                <a:ea typeface="Microsoft YaHei"/>
              </a:rPr>
              <a:t>3/10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12191695" cy="96012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icrosoft YaHei"/>
                <a:ea typeface="Microsoft YaHei"/>
              </a:rPr>
              <a:t>为什么现在做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11155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5D4E8"/>
                </a:solidFill>
                <a:latin typeface="Microsoft YaHei"/>
                <a:ea typeface="Microsoft YaHei"/>
              </a:rPr>
              <a:t>2023 年文章给骨架，2024–2026 年行业已补成可运营中枢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71600"/>
            <a:ext cx="2103120" cy="137160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8745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</a:rPr>
              <a:t>国际标杆</a:t>
            </a:r>
          </a:p>
        </p:txBody>
      </p:sp>
      <p:sp>
        <p:nvSpPr>
          <p:cNvPr id="9" name="Rectangle 8"/>
          <p:cNvSpPr/>
          <p:nvPr/>
        </p:nvSpPr>
        <p:spPr>
          <a:xfrm>
            <a:off x="2606040" y="1371600"/>
            <a:ext cx="9052560" cy="13716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34640" y="1691640"/>
            <a:ext cx="8595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22222"/>
                </a:solidFill>
                <a:latin typeface="Microsoft YaHei"/>
                <a:ea typeface="Microsoft YaHei"/>
              </a:rPr>
              <a:t>Sysco Shop 从再下一单变成经营入口；AI 进入预测、路径、后台降本。AI 应做模块内能力，不是另立项目。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2926080"/>
            <a:ext cx="2103120" cy="137160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4290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</a:rPr>
              <a:t>国内实践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06040" y="2926080"/>
            <a:ext cx="9052560" cy="13716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34640" y="3246120"/>
            <a:ext cx="8595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22222"/>
                </a:solidFill>
                <a:latin typeface="Microsoft YaHei"/>
                <a:ea typeface="Microsoft YaHei"/>
              </a:rPr>
              <a:t>蜀海把计划与全托管做成差异化；美菜由重自营转向更轻连接。无密度先铺大仓已被证伪。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4480560"/>
            <a:ext cx="2103120" cy="137160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9834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</a:rPr>
              <a:t>合规收紧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606040" y="4480560"/>
            <a:ext cx="9052560" cy="13716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834640" y="4800600"/>
            <a:ext cx="8595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22222"/>
                </a:solidFill>
                <a:latin typeface="Microsoft YaHei"/>
                <a:ea typeface="Microsoft YaHei"/>
              </a:rPr>
              <a:t>GB/T 45547-2025、T/CFCA 0003-2026 要求流通节点可追。批次必须从收货贯穿签收，一期用事件表即可。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Microsoft YaHei"/>
                <a:ea typeface="Microsoft YaHei"/>
              </a:rPr>
              <a:t>FoodOS 立项汇报  |  内部资料  |  2026-09-08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7040" y="644652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Microsoft YaHei"/>
                <a:ea typeface="Microsoft YaHei"/>
              </a:rPr>
              <a:t>4/10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12191695" cy="96012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icrosoft YaHei"/>
                <a:ea typeface="Microsoft YaHei"/>
              </a:rPr>
              <a:t>对标：学什么，不学什么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11155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5D4E8"/>
                </a:solidFill>
                <a:latin typeface="Microsoft YaHei"/>
                <a:ea typeface="Microsoft YaHei"/>
              </a:rPr>
              <a:t>Sysco 是作业系统与数据链，不是仓网规模本身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25880"/>
            <a:ext cx="5486400" cy="475488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5087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E75B6"/>
                </a:solidFill>
                <a:latin typeface="Microsoft YaHei"/>
                <a:ea typeface="Microsoft YaHei"/>
              </a:rPr>
              <a:t>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011680"/>
            <a:ext cx="493776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222222"/>
                </a:solidFill>
                <a:latin typeface="Microsoft YaHei"/>
                <a:ea typeface="Microsoft YaHei"/>
              </a:rPr>
              <a:t>截单 — 夜拣 — 凌晨配的作业时钟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22222"/>
                </a:solidFill>
                <a:latin typeface="Microsoft YaHei"/>
                <a:ea typeface="Microsoft YaHei"/>
              </a:rPr>
              <a:t>一站式 SKU，采购与品控分权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22222"/>
                </a:solidFill>
                <a:latin typeface="Microsoft YaHei"/>
                <a:ea typeface="Microsoft YaHei"/>
              </a:rPr>
              <a:t>订货与履约共用同一订单号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22222"/>
                </a:solidFill>
                <a:latin typeface="Microsoft YaHei"/>
                <a:ea typeface="Microsoft YaHei"/>
              </a:rPr>
              <a:t>用补货建议提高粘性，而不是只拼低价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22222"/>
                </a:solidFill>
                <a:latin typeface="Microsoft YaHei"/>
                <a:ea typeface="Microsoft YaHei"/>
              </a:rPr>
              <a:t>先履约闭环，再叠加经营工具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72200" y="1325880"/>
            <a:ext cx="5486400" cy="475488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5087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C45911"/>
                </a:solidFill>
                <a:latin typeface="Microsoft YaHei"/>
                <a:ea typeface="Microsoft YaHei"/>
              </a:rPr>
              <a:t>不学 / 一期不做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2011680"/>
            <a:ext cx="493776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222222"/>
                </a:solidFill>
                <a:latin typeface="Microsoft YaHei"/>
                <a:ea typeface="Microsoft YaHei"/>
              </a:rPr>
              <a:t>全国仓网、自有车队纳入软件验收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22222"/>
                </a:solidFill>
                <a:latin typeface="Microsoft YaHei"/>
                <a:ea typeface="Microsoft YaHei"/>
              </a:rPr>
              <a:t>没有密度时先建大仓（快驴类教训）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22222"/>
                </a:solidFill>
                <a:latin typeface="Microsoft YaHei"/>
                <a:ea typeface="Microsoft YaHei"/>
              </a:rPr>
              <a:t>以 40 万 SKU 为初期目标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22222"/>
                </a:solidFill>
                <a:latin typeface="Microsoft YaHei"/>
                <a:ea typeface="Microsoft YaHei"/>
              </a:rPr>
              <a:t>自研完整收银、预订、叫号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22222"/>
                </a:solidFill>
                <a:latin typeface="Microsoft YaHei"/>
                <a:ea typeface="Microsoft YaHei"/>
              </a:rPr>
              <a:t>区块链溯源、AI 直接改库存或自动派车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Microsoft YaHei"/>
                <a:ea typeface="Microsoft YaHei"/>
              </a:rPr>
              <a:t>FoodOS 立项汇报  |  内部资料  |  2026-09-08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07040" y="644652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Microsoft YaHei"/>
                <a:ea typeface="Microsoft YaHei"/>
              </a:rPr>
              <a:t>5/10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12191695" cy="96012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icrosoft YaHei"/>
                <a:ea typeface="Microsoft YaHei"/>
              </a:rPr>
              <a:t>总体方案：一个项目，六个模块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11155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5D4E8"/>
                </a:solidFill>
                <a:latin typeface="Microsoft YaHei"/>
                <a:ea typeface="Microsoft YaHei"/>
              </a:rPr>
              <a:t>对外一个产品，对内一张订单、一个批次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325880"/>
          <a:ext cx="11155680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6949440"/>
                <a:gridCol w="1828800"/>
              </a:tblGrid>
              <a:tr h="59436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模块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解决的问题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一期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订货 Shop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合约价、截单、复购、可用量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E75B6"/>
                          </a:solidFill>
                          <a:latin typeface="Microsoft YaHei"/>
                          <a:ea typeface="Microsoft YaHei"/>
                        </a:rPr>
                        <a:t>做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中枢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防超卖；仓 × 温区 × 批次库存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E75B6"/>
                          </a:solidFill>
                          <a:latin typeface="Microsoft YaHei"/>
                          <a:ea typeface="Microsoft YaHei"/>
                        </a:rPr>
                        <a:t>做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供应与质检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合格入库、批次事件、供应商配额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E75B6"/>
                          </a:solidFill>
                          <a:latin typeface="Microsoft YaHei"/>
                          <a:ea typeface="Microsoft YaHei"/>
                        </a:rPr>
                        <a:t>做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仓储 WMS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温区波次、效期先出、装托扫码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E75B6"/>
                          </a:solidFill>
                          <a:latin typeface="Microsoft YaHei"/>
                          <a:ea typeface="Microsoft YaHei"/>
                        </a:rPr>
                        <a:t>做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运输 TMS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固定线路、签收退货、温控接入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E75B6"/>
                          </a:solidFill>
                          <a:latin typeface="Microsoft YaHei"/>
                          <a:ea typeface="Microsoft YaHei"/>
                        </a:rPr>
                        <a:t>做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客户经营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22222"/>
                          </a:solidFill>
                          <a:latin typeface="Microsoft YaHei"/>
                          <a:ea typeface="Microsoft YaHei"/>
                        </a:rPr>
                        <a:t>用量建议、菜谱转购物车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</a:rPr>
                        <a:t>P2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Microsoft YaHei"/>
                <a:ea typeface="Microsoft YaHei"/>
              </a:rPr>
              <a:t>FoodOS 立项汇报  |  内部资料  |  2026-09-08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44652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Microsoft YaHei"/>
                <a:ea typeface="Microsoft YaHei"/>
              </a:rPr>
              <a:t>6/10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12191695" cy="96012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icrosoft YaHei"/>
                <a:ea typeface="Microsoft YaHei"/>
              </a:rPr>
              <a:t>P0 验收剧本：每日作业时钟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11155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5D4E8"/>
                </a:solidFill>
                <a:latin typeface="Microsoft YaHei"/>
                <a:ea typeface="Microsoft YaHei"/>
              </a:rPr>
              <a:t>试点城市可配置；这是 Sysco 效率的核心，也是我们唯一承诺的演示闭环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554480"/>
            <a:ext cx="2148840" cy="36576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554480"/>
            <a:ext cx="2148840" cy="82296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627632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</a:rPr>
              <a:t>16:00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938528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</a:rPr>
              <a:t>截单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651760"/>
            <a:ext cx="1874519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222222"/>
                </a:solidFill>
                <a:latin typeface="Microsoft YaHei"/>
                <a:ea typeface="Microsoft YaHei"/>
              </a:rPr>
              <a:t>之前可改单并预占
之后走加急或次日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5999" y="30175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E75B6"/>
                </a:solidFill>
                <a:latin typeface="Microsoft YaHei"/>
                <a:ea typeface="Microsoft YaHei"/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0" y="1554480"/>
            <a:ext cx="2148840" cy="36576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43200" y="1554480"/>
            <a:ext cx="2148840" cy="82296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43200" y="1627632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</a:rPr>
              <a:t>16:30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0" y="1938528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</a:rPr>
              <a:t>分拣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80360" y="2651760"/>
            <a:ext cx="1874519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222222"/>
                </a:solidFill>
                <a:latin typeface="Microsoft YaHei"/>
                <a:ea typeface="Microsoft YaHei"/>
              </a:rPr>
              <a:t>按温区拆波次
效期先进先出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19" y="30175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E75B6"/>
                </a:solidFill>
                <a:latin typeface="Microsoft YaHei"/>
                <a:ea typeface="Microsoft YaHei"/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74920" y="1554480"/>
            <a:ext cx="2148840" cy="36576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74920" y="1554480"/>
            <a:ext cx="2148840" cy="82296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74920" y="1627632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</a:rPr>
              <a:t>22:00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74920" y="1938528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</a:rPr>
              <a:t>装车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12080" y="2651760"/>
            <a:ext cx="1874519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222222"/>
                </a:solidFill>
                <a:latin typeface="Microsoft YaHei"/>
                <a:ea typeface="Microsoft YaHei"/>
              </a:rPr>
              <a:t>托盘与车厢位绑定
温区隔舱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9439" y="30175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E75B6"/>
                </a:solidFill>
                <a:latin typeface="Microsoft YaHei"/>
                <a:ea typeface="Microsoft YaHei"/>
              </a:rPr>
              <a:t>→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406640" y="1554480"/>
            <a:ext cx="2148840" cy="36576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406640" y="1554480"/>
            <a:ext cx="2148840" cy="82296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06640" y="1627632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</a:rPr>
              <a:t>05:00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06640" y="1938528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</a:rPr>
              <a:t>送达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43800" y="2651760"/>
            <a:ext cx="1874519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222222"/>
                </a:solidFill>
                <a:latin typeface="Microsoft YaHei"/>
                <a:ea typeface="Microsoft YaHei"/>
              </a:rPr>
              <a:t>时间窗可考核
无纸化签收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81159" y="30175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E75B6"/>
                </a:solidFill>
                <a:latin typeface="Microsoft YaHei"/>
                <a:ea typeface="Microsoft YaHei"/>
              </a:rPr>
              <a:t>→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738359" y="1554480"/>
            <a:ext cx="2148840" cy="36576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738359" y="1554480"/>
            <a:ext cx="2148840" cy="82296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738359" y="1627632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</a:rPr>
              <a:t>10:00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38359" y="1938528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</a:rPr>
              <a:t>对账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875519" y="2651760"/>
            <a:ext cx="1874519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222222"/>
                </a:solidFill>
                <a:latin typeface="Microsoft YaHei"/>
                <a:ea typeface="Microsoft YaHei"/>
              </a:rPr>
              <a:t>差异退货回写
同一张订单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Microsoft YaHei"/>
                <a:ea typeface="Microsoft YaHei"/>
              </a:rPr>
              <a:t>FoodOS 立项汇报  |  内部资料  |  2026-09-08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607040" y="644652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Microsoft YaHei"/>
                <a:ea typeface="Microsoft YaHei"/>
              </a:rPr>
              <a:t>7/10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12191695" cy="96012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icrosoft YaHei"/>
                <a:ea typeface="Microsoft YaHei"/>
              </a:rPr>
              <a:t>分期、编制与两本账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11155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5D4E8"/>
                </a:solidFill>
                <a:latin typeface="Microsoft YaHei"/>
                <a:ea typeface="Microsoft YaHei"/>
              </a:rPr>
              <a:t>本次立项只承诺 P0；P1/P2 按运营数据再批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280160"/>
            <a:ext cx="11155680" cy="233172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417320"/>
            <a:ext cx="10607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B365D"/>
                </a:solidFill>
                <a:latin typeface="Microsoft YaHei"/>
                <a:ea typeface="Microsoft YaHei"/>
              </a:rPr>
              <a:t>交付线（仍是一个项目）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828800"/>
            <a:ext cx="105156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222222"/>
                </a:solidFill>
                <a:latin typeface="Microsoft YaHei"/>
                <a:ea typeface="Microsoft YaHei"/>
              </a:rPr>
              <a:t>P0  8–12 周（唯一承诺）：订货 + 中枢 + 一仓履约 + 批次质检。验收：真单可演示闭环。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222222"/>
                </a:solidFill>
                <a:latin typeface="Microsoft YaHei"/>
                <a:ea typeface="Microsoft YaHei"/>
              </a:rPr>
              <a:t>P1  +8 周（路线图）：召回、温控判责、计划员审核的补货建议。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222222"/>
                </a:solidFill>
                <a:latin typeface="Microsoft YaHei"/>
                <a:ea typeface="Microsoft YaHei"/>
              </a:rPr>
              <a:t>P2  +8 周（路线图）：菜谱补货、路径优化、部分供应商直送。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3794760"/>
            <a:ext cx="5394960" cy="2286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93192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B365D"/>
                </a:solidFill>
                <a:latin typeface="Microsoft YaHei"/>
                <a:ea typeface="Microsoft YaHei"/>
              </a:rPr>
              <a:t>P0 建议编制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343400"/>
            <a:ext cx="493776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Microsoft YaHei"/>
                <a:ea typeface="Microsoft YaHei"/>
              </a:rPr>
              <a:t>业务 1（可兼职）· 产品 1
技术负责 + 后端 1+2 · 前端 1 · 测试 1
仓配顾问兼职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6480" y="3794760"/>
            <a:ext cx="5532120" cy="2286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393192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C45911"/>
                </a:solidFill>
                <a:latin typeface="Microsoft YaHei"/>
                <a:ea typeface="Microsoft YaHei"/>
              </a:rPr>
              <a:t>两本账必须分闸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4343400"/>
            <a:ext cx="512064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Microsoft YaHei"/>
                <a:ea typeface="Microsoft YaHei"/>
              </a:rPr>
              <a:t>软件账：人力、云、PDA、探头
运营账：仓、车、货、销售
预算数字请财务按编制测算后填入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Microsoft YaHei"/>
                <a:ea typeface="Microsoft YaHei"/>
              </a:rPr>
              <a:t>FoodOS 立项汇报  |  内部资料  |  2026-09-08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7040" y="644652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Microsoft YaHei"/>
                <a:ea typeface="Microsoft YaHei"/>
              </a:rPr>
              <a:t>8/10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12191695" cy="96012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icrosoft YaHei"/>
                <a:ea typeface="Microsoft YaHei"/>
              </a:rPr>
              <a:t>主要风险与闸门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11155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5D4E8"/>
                </a:solidFill>
                <a:latin typeface="Microsoft YaHei"/>
                <a:ea typeface="Microsoft YaHei"/>
              </a:rPr>
              <a:t>高风险先用制度锁住，再用系统落地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25880"/>
            <a:ext cx="3611880" cy="214884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5544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B365D"/>
                </a:solidFill>
                <a:latin typeface="Microsoft YaHei"/>
                <a:ea typeface="Microsoft YaHei"/>
              </a:rPr>
              <a:t>范围膨胀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88920" y="1581912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C45911"/>
                </a:solidFill>
                <a:latin typeface="Microsoft YaHei"/>
                <a:ea typeface="Microsoft YaHei"/>
              </a:rPr>
              <a:t>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103120"/>
            <a:ext cx="3154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Microsoft YaHei"/>
                <a:ea typeface="Microsoft YaHei"/>
              </a:rPr>
              <a:t>锁定不做清单；变更走变更单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43400" y="1325880"/>
            <a:ext cx="3611880" cy="214884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15544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B365D"/>
                </a:solidFill>
                <a:latin typeface="Microsoft YaHei"/>
                <a:ea typeface="Microsoft YaHei"/>
              </a:rPr>
              <a:t>重资产先行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1581912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C45911"/>
                </a:solidFill>
                <a:latin typeface="Microsoft YaHei"/>
                <a:ea typeface="Microsoft YaHei"/>
              </a:rPr>
              <a:t>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103120"/>
            <a:ext cx="3154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Microsoft YaHei"/>
                <a:ea typeface="Microsoft YaHei"/>
              </a:rPr>
              <a:t>软件与仓配分闸；无种子客户不扩仓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83880" y="1325880"/>
            <a:ext cx="3611880" cy="214884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0" y="15544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B365D"/>
                </a:solidFill>
                <a:latin typeface="Microsoft YaHei"/>
                <a:ea typeface="Microsoft YaHei"/>
              </a:rPr>
              <a:t>损耗与账期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69880" y="1581912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C45911"/>
                </a:solidFill>
                <a:latin typeface="Microsoft YaHei"/>
                <a:ea typeface="Microsoft YaHei"/>
              </a:rPr>
              <a:t>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2103120"/>
            <a:ext cx="3154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Microsoft YaHei"/>
                <a:ea typeface="Microsoft YaHei"/>
              </a:rPr>
              <a:t>批次损耗进周会；授信与起订严控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3703320"/>
            <a:ext cx="3611880" cy="214884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39319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B365D"/>
                </a:solidFill>
                <a:latin typeface="Microsoft YaHei"/>
                <a:ea typeface="Microsoft YaHei"/>
              </a:rPr>
              <a:t>照搬美国模式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88920" y="3959352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595959"/>
                </a:solidFill>
                <a:latin typeface="Microsoft YaHei"/>
                <a:ea typeface="Microsoft YaHei"/>
              </a:rPr>
              <a:t>中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480560"/>
            <a:ext cx="3154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Microsoft YaHei"/>
                <a:ea typeface="Microsoft YaHei"/>
              </a:rPr>
              <a:t>先连锁快餐 / 团餐，正餐定制后置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43400" y="3703320"/>
            <a:ext cx="3611880" cy="214884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0" y="39319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B365D"/>
                </a:solidFill>
                <a:latin typeface="Microsoft YaHei"/>
                <a:ea typeface="Microsoft YaHei"/>
              </a:rPr>
              <a:t>AI 预期过高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29400" y="3959352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595959"/>
                </a:solidFill>
                <a:latin typeface="Microsoft YaHei"/>
                <a:ea typeface="Microsoft YaHei"/>
              </a:rPr>
              <a:t>中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4480560"/>
            <a:ext cx="3154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Microsoft YaHei"/>
                <a:ea typeface="Microsoft YaHei"/>
              </a:rPr>
              <a:t>模型只建议；P0 可用规则 + 人工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183880" y="3703320"/>
            <a:ext cx="3611880" cy="214884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12480" y="39319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B365D"/>
                </a:solidFill>
                <a:latin typeface="Microsoft YaHei"/>
                <a:ea typeface="Microsoft YaHei"/>
              </a:rPr>
              <a:t>多系统对账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469880" y="3959352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595959"/>
                </a:solidFill>
                <a:latin typeface="Microsoft YaHei"/>
                <a:ea typeface="Microsoft YaHei"/>
              </a:rPr>
              <a:t>中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0" y="4480560"/>
            <a:ext cx="3154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Microsoft YaHei"/>
                <a:ea typeface="Microsoft YaHei"/>
              </a:rPr>
              <a:t>坚持一个项目、一张订单、一个批次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Microsoft YaHei"/>
                <a:ea typeface="Microsoft YaHei"/>
              </a:rPr>
              <a:t>FoodOS 立项汇报  |  内部资料  |  2026-09-08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07040" y="644652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Microsoft YaHei"/>
                <a:ea typeface="Microsoft YaHei"/>
              </a:rPr>
              <a:t>9/10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12191695" cy="96012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icrosoft YaHei"/>
                <a:ea typeface="Microsoft YaHei"/>
              </a:rPr>
              <a:t>建议决议稿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11155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5D4E8"/>
                </a:solidFill>
                <a:latin typeface="Microsoft YaHei"/>
                <a:ea typeface="Microsoft YaHei"/>
              </a:rPr>
              <a:t>可直接投影，请会上原则通过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280160"/>
            <a:ext cx="11155680" cy="841248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280160"/>
            <a:ext cx="640080" cy="841248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508760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1444752"/>
            <a:ext cx="101498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22222"/>
                </a:solidFill>
                <a:latin typeface="Microsoft YaHei"/>
                <a:ea typeface="Microsoft YaHei"/>
              </a:rPr>
              <a:t>同意立项 FoodOS，定位 B 端订货—履约—溯源一体化，建设方式为单一项目模块化交付。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2240280"/>
            <a:ext cx="11155680" cy="841248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2240280"/>
            <a:ext cx="640080" cy="841248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468880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2404872"/>
            <a:ext cx="101498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22222"/>
                </a:solidFill>
                <a:latin typeface="Microsoft YaHei"/>
                <a:ea typeface="Microsoft YaHei"/>
              </a:rPr>
              <a:t>同意 P0 范围为单城闭环，周期 8–12 周；P1/P2 仅作路线图，不纳入本次预算承诺。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3200400"/>
            <a:ext cx="11155680" cy="841248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" y="3200400"/>
            <a:ext cx="640080" cy="841248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3429000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3364992"/>
            <a:ext cx="101498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22222"/>
                </a:solidFill>
                <a:latin typeface="Microsoft YaHei"/>
                <a:ea typeface="Microsoft YaHei"/>
              </a:rPr>
              <a:t>明确一期不做：全国仓网、自研 POS、区块链、无数据基础的自动采购 / 自动派车。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4160520"/>
            <a:ext cx="11155680" cy="841248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2920" y="4160520"/>
            <a:ext cx="640080" cy="841248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4389120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" y="4325112"/>
            <a:ext cx="101498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22222"/>
                </a:solidFill>
                <a:latin typeface="Microsoft YaHei"/>
                <a:ea typeface="Microsoft YaHei"/>
              </a:rPr>
              <a:t>指定业务负责人 ________    技术负责人 ________    两周内提交详细设计、验收剧本与预算。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5120640"/>
            <a:ext cx="11155680" cy="841248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02920" y="5120640"/>
            <a:ext cx="640080" cy="841248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5349240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25880" y="5285232"/>
            <a:ext cx="101498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22222"/>
                </a:solidFill>
                <a:latin typeface="Microsoft YaHei"/>
                <a:ea typeface="Microsoft YaHei"/>
              </a:rPr>
              <a:t>业务侧并行确认试点仓、种子客户、截单与配送规则，作为 P0 验收前置条件。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46520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Microsoft YaHei"/>
                <a:ea typeface="Microsoft YaHei"/>
              </a:rPr>
              <a:t>FoodOS 立项汇报  |  内部资料  |  2026-09-08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07040" y="644652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Microsoft YaHei"/>
                <a:ea typeface="Microsoft YaHei"/>
              </a:rPr>
              <a:t>10/10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